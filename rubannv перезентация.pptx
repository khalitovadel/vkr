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284" r:id="rId4"/>
    <p:sldId id="259" r:id="rId5"/>
    <p:sldId id="277" r:id="rId6"/>
    <p:sldId id="281" r:id="rId7"/>
    <p:sldId id="264" r:id="rId8"/>
    <p:sldId id="266" r:id="rId9"/>
    <p:sldId id="270" r:id="rId10"/>
    <p:sldId id="279" r:id="rId11"/>
    <p:sldId id="265" r:id="rId12"/>
    <p:sldId id="271" r:id="rId13"/>
    <p:sldId id="261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8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3" pos="8640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  <p15:guide id="6" orient="horz" pos="4824" userDrawn="1">
          <p15:clr>
            <a:srgbClr val="A4A3A4"/>
          </p15:clr>
        </p15:guide>
        <p15:guide id="7" pos="480" userDrawn="1">
          <p15:clr>
            <a:srgbClr val="A4A3A4"/>
          </p15:clr>
        </p15:guide>
        <p15:guide id="8" orient="horz" pos="3816" userDrawn="1">
          <p15:clr>
            <a:srgbClr val="A4A3A4"/>
          </p15:clr>
        </p15:guide>
        <p15:guide id="9" orient="horz" pos="5496" userDrawn="1">
          <p15:clr>
            <a:srgbClr val="A4A3A4"/>
          </p15:clr>
        </p15:guide>
        <p15:guide id="10" pos="11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7FF"/>
    <a:srgbClr val="396087"/>
    <a:srgbClr val="B36AF6"/>
    <a:srgbClr val="F0F0F0"/>
    <a:srgbClr val="F0B90A"/>
    <a:srgbClr val="FFD700"/>
    <a:srgbClr val="0B7DC5"/>
    <a:srgbClr val="FEE6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625" autoAdjust="0"/>
  </p:normalViewPr>
  <p:slideViewPr>
    <p:cSldViewPr>
      <p:cViewPr varScale="1">
        <p:scale>
          <a:sx n="100" d="100"/>
          <a:sy n="100" d="100"/>
        </p:scale>
        <p:origin x="696" y="72"/>
      </p:cViewPr>
      <p:guideLst>
        <p:guide orient="horz" pos="3288"/>
        <p:guide pos="5760"/>
        <p:guide pos="8640"/>
        <p:guide pos="2880"/>
        <p:guide orient="horz" pos="1656"/>
        <p:guide orient="horz" pos="4824"/>
        <p:guide pos="480"/>
        <p:guide orient="horz" pos="3816"/>
        <p:guide orient="horz" pos="5496"/>
        <p:guide pos="11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1B61A-9193-4063-A26E-887F9DA117B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002A3-0943-4B51-9071-1C02AD1D5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40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002A3-0943-4B51-9071-1C02AD1D56B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58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Автосервис Премьер Нижний Новгород">
            <a:extLst>
              <a:ext uri="{FF2B5EF4-FFF2-40B4-BE49-F238E27FC236}">
                <a16:creationId xmlns:a16="http://schemas.microsoft.com/office/drawing/2014/main" id="{CA4E07A8-7E3F-6E1F-D65F-70ED0DC65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200" y="5031555"/>
            <a:ext cx="5715000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/>
          <p:cNvSpPr/>
          <p:nvPr/>
        </p:nvSpPr>
        <p:spPr>
          <a:xfrm>
            <a:off x="0" y="0"/>
            <a:ext cx="18707100" cy="31246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grpSp>
        <p:nvGrpSpPr>
          <p:cNvPr id="3" name="Group 3"/>
          <p:cNvGrpSpPr/>
          <p:nvPr/>
        </p:nvGrpSpPr>
        <p:grpSpPr>
          <a:xfrm>
            <a:off x="-987264" y="2247900"/>
            <a:ext cx="14093462" cy="9448177"/>
            <a:chOff x="0" y="0"/>
            <a:chExt cx="3373780" cy="2462566"/>
          </a:xfrm>
          <a:solidFill>
            <a:srgbClr val="3557FF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3373780" cy="2462566"/>
            </a:xfrm>
            <a:custGeom>
              <a:avLst/>
              <a:gdLst/>
              <a:ahLst/>
              <a:cxnLst/>
              <a:rect l="l" t="t" r="r" b="b"/>
              <a:pathLst>
                <a:path w="3373780" h="2462566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724" y="4557766"/>
            <a:ext cx="13087350" cy="3193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604"/>
              </a:lnSpc>
            </a:pPr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2" charset="0"/>
              </a:rPr>
              <a:t>На тему</a:t>
            </a:r>
            <a:r>
              <a:rPr lang="en-US" sz="4000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2" charset="0"/>
              </a:rPr>
              <a:t>:</a:t>
            </a:r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2" charset="0"/>
              </a:rPr>
              <a:t> </a:t>
            </a:r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2" charset="0"/>
              </a:rPr>
              <a:t>Проектирование и разработка информационной системы </a:t>
            </a:r>
            <a:r>
              <a:rPr lang="ru-RU" sz="4800" dirty="0"/>
              <a:t>авторемонтного предприятия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2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5724" y="9677176"/>
            <a:ext cx="1247214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ru-RU" sz="3000" spc="30" dirty="0">
                <a:latin typeface="Roboto" panose="02000000000000000000" pitchFamily="2" charset="0"/>
                <a:ea typeface="Roboto" panose="02000000000000000000" pitchFamily="2" charset="0"/>
              </a:rPr>
              <a:t>Научный руководитель: </a:t>
            </a:r>
            <a:r>
              <a:rPr lang="ru-RU" sz="3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И.А. Федоров</a:t>
            </a:r>
            <a:endParaRPr lang="ru-RU" sz="3000" spc="3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2AEC5868-1F82-4AB9-8A0C-AA498E55C0CA}"/>
              </a:ext>
            </a:extLst>
          </p:cNvPr>
          <p:cNvSpPr txBox="1"/>
          <p:nvPr/>
        </p:nvSpPr>
        <p:spPr>
          <a:xfrm>
            <a:off x="85724" y="9269124"/>
            <a:ext cx="96774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ru-RU" sz="3000" spc="30" dirty="0">
                <a:latin typeface="Roboto" panose="02000000000000000000" pitchFamily="2" charset="0"/>
                <a:ea typeface="Roboto" panose="02000000000000000000" pitchFamily="2" charset="0"/>
              </a:rPr>
              <a:t>Работу выполнил: Студент </a:t>
            </a:r>
            <a:r>
              <a:rPr lang="ru-RU" sz="3000" dirty="0" err="1"/>
              <a:t>ДЗПИж</a:t>
            </a:r>
            <a:r>
              <a:rPr lang="ru-RU" sz="3000" dirty="0"/>
              <a:t> 210 </a:t>
            </a:r>
            <a:r>
              <a:rPr lang="ru-RU" sz="3000" spc="30" dirty="0">
                <a:latin typeface="Roboto" panose="02000000000000000000" pitchFamily="2" charset="0"/>
                <a:ea typeface="Roboto" panose="02000000000000000000" pitchFamily="2" charset="0"/>
              </a:rPr>
              <a:t>Рубан Никита</a:t>
            </a:r>
            <a:endParaRPr lang="en-US" sz="3000" spc="3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3229C-340C-4A6F-97D6-B9EC2D121111}"/>
              </a:ext>
            </a:extLst>
          </p:cNvPr>
          <p:cNvSpPr txBox="1"/>
          <p:nvPr/>
        </p:nvSpPr>
        <p:spPr>
          <a:xfrm>
            <a:off x="5641146" y="11955"/>
            <a:ext cx="7772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Учреждение высшего образования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«Университет управления «ТИСБИ»</a:t>
            </a:r>
          </a:p>
          <a:p>
            <a:pPr algn="ctr"/>
            <a:endParaRPr lang="ru-RU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Факультет «Информационных технологии»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Кафедра «Программная инженерия»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573EB45-F40E-4FD3-A9D9-FBDC210B9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0422" y="3124606"/>
            <a:ext cx="2687578" cy="263113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2B33AE-3821-4885-B0BA-BB50C93E6B32}"/>
              </a:ext>
            </a:extLst>
          </p:cNvPr>
          <p:cNvSpPr txBox="1"/>
          <p:nvPr/>
        </p:nvSpPr>
        <p:spPr>
          <a:xfrm>
            <a:off x="123824" y="2717806"/>
            <a:ext cx="13001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2" charset="0"/>
              </a:rPr>
              <a:t>Выпускная квалификационная работа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656DD-7520-4CF2-822C-4880737E29DF}"/>
              </a:ext>
            </a:extLst>
          </p:cNvPr>
          <p:cNvSpPr txBox="1"/>
          <p:nvPr/>
        </p:nvSpPr>
        <p:spPr>
          <a:xfrm>
            <a:off x="13087350" y="9750494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</a:rPr>
              <a:t>2026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</a:rPr>
              <a:t>год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4CC32D-C53C-2675-9931-7F92E10F8F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8047377" y="36886"/>
            <a:ext cx="10240623" cy="10240623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70E0553-C5B9-4261-A315-8BFAD2FB9CD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3773150" y="3055630"/>
            <a:ext cx="0" cy="743514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3BF492B-C82E-4507-9F2B-FA6B762E3B18}"/>
              </a:ext>
            </a:extLst>
          </p:cNvPr>
          <p:cNvSpPr/>
          <p:nvPr/>
        </p:nvSpPr>
        <p:spPr>
          <a:xfrm>
            <a:off x="10287000" y="3799144"/>
            <a:ext cx="6972299" cy="141205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0" name="Group 8">
            <a:extLst>
              <a:ext uri="{FF2B5EF4-FFF2-40B4-BE49-F238E27FC236}">
                <a16:creationId xmlns:a16="http://schemas.microsoft.com/office/drawing/2014/main" id="{864ECA1C-B7FF-49E8-96D6-2478C344C136}"/>
              </a:ext>
            </a:extLst>
          </p:cNvPr>
          <p:cNvGrpSpPr/>
          <p:nvPr/>
        </p:nvGrpSpPr>
        <p:grpSpPr>
          <a:xfrm>
            <a:off x="11544299" y="2024124"/>
            <a:ext cx="4343396" cy="1252083"/>
            <a:chOff x="0" y="0"/>
            <a:chExt cx="2993618" cy="1217520"/>
          </a:xfrm>
          <a:solidFill>
            <a:srgbClr val="3557FF"/>
          </a:solidFill>
        </p:grpSpPr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04874C77-1F52-4801-88B6-7D05FCF9C310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6" name="Group 8">
            <a:extLst>
              <a:ext uri="{FF2B5EF4-FFF2-40B4-BE49-F238E27FC236}">
                <a16:creationId xmlns:a16="http://schemas.microsoft.com/office/drawing/2014/main" id="{211842B2-FF2D-4C12-AA69-350D12007466}"/>
              </a:ext>
            </a:extLst>
          </p:cNvPr>
          <p:cNvGrpSpPr/>
          <p:nvPr/>
        </p:nvGrpSpPr>
        <p:grpSpPr>
          <a:xfrm>
            <a:off x="1981200" y="1978683"/>
            <a:ext cx="2590800" cy="1255734"/>
            <a:chOff x="0" y="0"/>
            <a:chExt cx="2993618" cy="1217520"/>
          </a:xfrm>
          <a:solidFill>
            <a:srgbClr val="3557FF"/>
          </a:solidFill>
        </p:grpSpPr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A4670B6C-9E5F-402E-9E97-56FFB9258F4D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7" name="Group 8">
            <a:extLst>
              <a:ext uri="{FF2B5EF4-FFF2-40B4-BE49-F238E27FC236}">
                <a16:creationId xmlns:a16="http://schemas.microsoft.com/office/drawing/2014/main" id="{9CC1B52F-384A-49E7-92E0-35C2B54A815B}"/>
              </a:ext>
            </a:extLst>
          </p:cNvPr>
          <p:cNvGrpSpPr/>
          <p:nvPr/>
        </p:nvGrpSpPr>
        <p:grpSpPr>
          <a:xfrm>
            <a:off x="-148703" y="7786215"/>
            <a:ext cx="1624254" cy="1300435"/>
            <a:chOff x="0" y="0"/>
            <a:chExt cx="2993618" cy="1217520"/>
          </a:xfrm>
          <a:solidFill>
            <a:srgbClr val="3557FF"/>
          </a:solidFill>
        </p:grpSpPr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id="{9BC26D89-D573-4B78-8394-D0A98BAC35CF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5" name="Group 8">
            <a:extLst>
              <a:ext uri="{FF2B5EF4-FFF2-40B4-BE49-F238E27FC236}">
                <a16:creationId xmlns:a16="http://schemas.microsoft.com/office/drawing/2014/main" id="{FBC9A46F-D153-411A-AC95-E95B69FA8E64}"/>
              </a:ext>
            </a:extLst>
          </p:cNvPr>
          <p:cNvGrpSpPr/>
          <p:nvPr/>
        </p:nvGrpSpPr>
        <p:grpSpPr>
          <a:xfrm>
            <a:off x="-172266" y="6282654"/>
            <a:ext cx="1624254" cy="1300435"/>
            <a:chOff x="0" y="0"/>
            <a:chExt cx="2993618" cy="121752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6" name="Freeform 9">
              <a:extLst>
                <a:ext uri="{FF2B5EF4-FFF2-40B4-BE49-F238E27FC236}">
                  <a16:creationId xmlns:a16="http://schemas.microsoft.com/office/drawing/2014/main" id="{B44816C8-7193-4418-8752-7AE8D5DAA931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3" name="Group 8">
            <a:extLst>
              <a:ext uri="{FF2B5EF4-FFF2-40B4-BE49-F238E27FC236}">
                <a16:creationId xmlns:a16="http://schemas.microsoft.com/office/drawing/2014/main" id="{06EF8476-E348-4746-AB50-3F5DC5B68897}"/>
              </a:ext>
            </a:extLst>
          </p:cNvPr>
          <p:cNvGrpSpPr/>
          <p:nvPr/>
        </p:nvGrpSpPr>
        <p:grpSpPr>
          <a:xfrm>
            <a:off x="-172266" y="4796195"/>
            <a:ext cx="1624254" cy="1300435"/>
            <a:chOff x="0" y="0"/>
            <a:chExt cx="2993618" cy="1217520"/>
          </a:xfrm>
          <a:solidFill>
            <a:srgbClr val="3557FF"/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D04D966B-FEF5-42EE-AC7C-B5B966E60725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61" name="Group 8">
            <a:extLst>
              <a:ext uri="{FF2B5EF4-FFF2-40B4-BE49-F238E27FC236}">
                <a16:creationId xmlns:a16="http://schemas.microsoft.com/office/drawing/2014/main" id="{5EFF0A5F-233E-456D-B388-2C47E9D0C406}"/>
              </a:ext>
            </a:extLst>
          </p:cNvPr>
          <p:cNvGrpSpPr/>
          <p:nvPr/>
        </p:nvGrpSpPr>
        <p:grpSpPr>
          <a:xfrm>
            <a:off x="-148704" y="3334926"/>
            <a:ext cx="1624254" cy="1300435"/>
            <a:chOff x="0" y="0"/>
            <a:chExt cx="2993618" cy="121752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AD57B5ED-FC92-4104-B68F-40E9CAB0A949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44299" y="2296800"/>
            <a:ext cx="4343399" cy="706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ru-RU" sz="5544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Цель работы</a:t>
            </a:r>
          </a:p>
        </p:txBody>
      </p:sp>
      <p:sp>
        <p:nvSpPr>
          <p:cNvPr id="59" name="TextBox 22">
            <a:extLst>
              <a:ext uri="{FF2B5EF4-FFF2-40B4-BE49-F238E27FC236}">
                <a16:creationId xmlns:a16="http://schemas.microsoft.com/office/drawing/2014/main" id="{36C3440B-F153-482A-BFF3-703071A73A30}"/>
              </a:ext>
            </a:extLst>
          </p:cNvPr>
          <p:cNvSpPr txBox="1"/>
          <p:nvPr/>
        </p:nvSpPr>
        <p:spPr>
          <a:xfrm>
            <a:off x="10263438" y="4037102"/>
            <a:ext cx="6972300" cy="1006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Проектирование и разработка информационной системы </a:t>
            </a:r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авторемонтного предприятия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35A86E94-F24D-4946-A51A-6C7C04D930FA}"/>
              </a:ext>
            </a:extLst>
          </p:cNvPr>
          <p:cNvSpPr txBox="1"/>
          <p:nvPr/>
        </p:nvSpPr>
        <p:spPr>
          <a:xfrm>
            <a:off x="1676400" y="2275534"/>
            <a:ext cx="3200400" cy="706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ru-RU" sz="5544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Задачи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F830B568-46BD-4BBF-BA78-6DF46B12D2C9}"/>
              </a:ext>
            </a:extLst>
          </p:cNvPr>
          <p:cNvSpPr txBox="1"/>
          <p:nvPr/>
        </p:nvSpPr>
        <p:spPr>
          <a:xfrm>
            <a:off x="1503135" y="3690760"/>
            <a:ext cx="513222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ru-RU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Провести анализ существующих систем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31EA2F3-42F6-4165-9587-85E7866616F4}"/>
              </a:ext>
            </a:extLst>
          </p:cNvPr>
          <p:cNvSpPr txBox="1"/>
          <p:nvPr/>
        </p:nvSpPr>
        <p:spPr>
          <a:xfrm>
            <a:off x="1472042" y="5157198"/>
            <a:ext cx="515327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ru-RU" sz="24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Спроектировать модели системы с использованием среды </a:t>
            </a:r>
            <a:r>
              <a:rPr lang="en-US" sz="2400" dirty="0" err="1">
                <a:effectLst/>
                <a:latin typeface="Roboto" panose="02000000000000000000" pitchFamily="2" charset="0"/>
                <a:ea typeface="Roboto" panose="02000000000000000000" pitchFamily="2" charset="0"/>
              </a:rPr>
              <a:t>PlantUML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TextBox 22">
            <a:extLst>
              <a:ext uri="{FF2B5EF4-FFF2-40B4-BE49-F238E27FC236}">
                <a16:creationId xmlns:a16="http://schemas.microsoft.com/office/drawing/2014/main" id="{0250366A-F663-43A9-B112-7035FE34C0A4}"/>
              </a:ext>
            </a:extLst>
          </p:cNvPr>
          <p:cNvSpPr txBox="1"/>
          <p:nvPr/>
        </p:nvSpPr>
        <p:spPr>
          <a:xfrm>
            <a:off x="1475551" y="6596240"/>
            <a:ext cx="5290782" cy="67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Провести экономический расчет стоимости системы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TextBox 22">
            <a:extLst>
              <a:ext uri="{FF2B5EF4-FFF2-40B4-BE49-F238E27FC236}">
                <a16:creationId xmlns:a16="http://schemas.microsoft.com/office/drawing/2014/main" id="{F585BEA7-BE8C-445C-BB62-18152E520A37}"/>
              </a:ext>
            </a:extLst>
          </p:cNvPr>
          <p:cNvSpPr txBox="1"/>
          <p:nvPr/>
        </p:nvSpPr>
        <p:spPr>
          <a:xfrm>
            <a:off x="1503135" y="8024974"/>
            <a:ext cx="5273437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5"/>
              </a:lnSpc>
            </a:pP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Реализовать конфигурацию ИС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2400" dirty="0">
                <a:latin typeface="Roboto" panose="02000000000000000000" pitchFamily="2" charset="0"/>
                <a:ea typeface="Roboto" panose="02000000000000000000" pitchFamily="2" charset="0"/>
              </a:rPr>
              <a:t>на 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Python, Django, </a:t>
            </a:r>
            <a:r>
              <a:rPr lang="en-US" sz="2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SQLlite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56" name="Picture 16" descr="Picture background">
            <a:extLst>
              <a:ext uri="{FF2B5EF4-FFF2-40B4-BE49-F238E27FC236}">
                <a16:creationId xmlns:a16="http://schemas.microsoft.com/office/drawing/2014/main" id="{93714653-C6A5-4749-B995-2E8F90FEC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4090" y="3509964"/>
            <a:ext cx="1019515" cy="101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0" descr="Picture background">
            <a:extLst>
              <a:ext uri="{FF2B5EF4-FFF2-40B4-BE49-F238E27FC236}">
                <a16:creationId xmlns:a16="http://schemas.microsoft.com/office/drawing/2014/main" id="{BAD4B7DB-5ED6-48D7-9CA5-93CCC8464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38" y="4900221"/>
            <a:ext cx="1019515" cy="101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8" descr="Picture background">
            <a:extLst>
              <a:ext uri="{FF2B5EF4-FFF2-40B4-BE49-F238E27FC236}">
                <a16:creationId xmlns:a16="http://schemas.microsoft.com/office/drawing/2014/main" id="{8AE1ACB9-5F31-4684-8224-B719B545C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87" y="6412144"/>
            <a:ext cx="1280638" cy="110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2" descr="Picture background">
            <a:extLst>
              <a:ext uri="{FF2B5EF4-FFF2-40B4-BE49-F238E27FC236}">
                <a16:creationId xmlns:a16="http://schemas.microsoft.com/office/drawing/2014/main" id="{0AC0EA10-7545-48EE-BC1B-C85814DA8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70" y="7862415"/>
            <a:ext cx="1141072" cy="114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FA1BCBA-785D-42C9-8896-5613F1F0380E}"/>
              </a:ext>
            </a:extLst>
          </p:cNvPr>
          <p:cNvCxnSpPr/>
          <p:nvPr/>
        </p:nvCxnSpPr>
        <p:spPr>
          <a:xfrm>
            <a:off x="762000" y="4635361"/>
            <a:ext cx="0" cy="160834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6CCD9471-0D6A-4C6D-8807-1207A4B6F992}"/>
              </a:ext>
            </a:extLst>
          </p:cNvPr>
          <p:cNvCxnSpPr>
            <a:cxnSpLocks/>
          </p:cNvCxnSpPr>
          <p:nvPr/>
        </p:nvCxnSpPr>
        <p:spPr>
          <a:xfrm>
            <a:off x="762000" y="6096630"/>
            <a:ext cx="0" cy="1898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E79C19D4-A928-4EAF-AFB7-815A4508F3D1}"/>
              </a:ext>
            </a:extLst>
          </p:cNvPr>
          <p:cNvCxnSpPr>
            <a:cxnSpLocks/>
          </p:cNvCxnSpPr>
          <p:nvPr/>
        </p:nvCxnSpPr>
        <p:spPr>
          <a:xfrm flipH="1">
            <a:off x="759306" y="7583089"/>
            <a:ext cx="2694" cy="20312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32CCAF72-A559-45C3-844C-3A46D3D1A94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2000" y="2628900"/>
            <a:ext cx="1219198" cy="706026"/>
          </a:xfrm>
          <a:prstGeom prst="bentConnector3">
            <a:avLst>
              <a:gd name="adj1" fmla="val 100000"/>
            </a:avLst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098030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1F765C2-E153-7B78-8E98-59FC4041011F}"/>
              </a:ext>
            </a:extLst>
          </p:cNvPr>
          <p:cNvSpPr/>
          <p:nvPr/>
        </p:nvSpPr>
        <p:spPr>
          <a:xfrm>
            <a:off x="13179126" y="2477762"/>
            <a:ext cx="3886187" cy="340497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626B1FE-4B9E-F12B-CA6E-4E5D66D45D2F}"/>
              </a:ext>
            </a:extLst>
          </p:cNvPr>
          <p:cNvSpPr/>
          <p:nvPr/>
        </p:nvSpPr>
        <p:spPr>
          <a:xfrm>
            <a:off x="1143000" y="2623338"/>
            <a:ext cx="3886187" cy="32593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4" name="Group 8">
            <a:extLst>
              <a:ext uri="{FF2B5EF4-FFF2-40B4-BE49-F238E27FC236}">
                <a16:creationId xmlns:a16="http://schemas.microsoft.com/office/drawing/2014/main" id="{01FDECC4-5F3E-43A9-AB36-616E2F786710}"/>
              </a:ext>
            </a:extLst>
          </p:cNvPr>
          <p:cNvGrpSpPr/>
          <p:nvPr/>
        </p:nvGrpSpPr>
        <p:grpSpPr>
          <a:xfrm>
            <a:off x="6990759" y="422179"/>
            <a:ext cx="4343396" cy="1252083"/>
            <a:chOff x="0" y="0"/>
            <a:chExt cx="2993618" cy="1217520"/>
          </a:xfrm>
          <a:solidFill>
            <a:srgbClr val="3557FF"/>
          </a:solidFill>
        </p:grpSpPr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E88A4797-DDD3-482F-B494-56ACD106C78D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6" name="TextBox 21">
            <a:extLst>
              <a:ext uri="{FF2B5EF4-FFF2-40B4-BE49-F238E27FC236}">
                <a16:creationId xmlns:a16="http://schemas.microsoft.com/office/drawing/2014/main" id="{62BB2F7E-D807-4E09-B24A-0DE678B2E04F}"/>
              </a:ext>
            </a:extLst>
          </p:cNvPr>
          <p:cNvSpPr txBox="1"/>
          <p:nvPr/>
        </p:nvSpPr>
        <p:spPr>
          <a:xfrm>
            <a:off x="6154204" y="357626"/>
            <a:ext cx="6036828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ru-RU" sz="48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Пользователи системы</a:t>
            </a:r>
          </a:p>
        </p:txBody>
      </p:sp>
      <p:cxnSp>
        <p:nvCxnSpPr>
          <p:cNvPr id="7" name="Соединитель: уступ 6">
            <a:extLst>
              <a:ext uri="{FF2B5EF4-FFF2-40B4-BE49-F238E27FC236}">
                <a16:creationId xmlns:a16="http://schemas.microsoft.com/office/drawing/2014/main" id="{0B616E76-0E69-5206-BA0E-3D39FF416B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88036" y="3042609"/>
            <a:ext cx="2829318" cy="1"/>
          </a:xfrm>
          <a:prstGeom prst="bentConnector3">
            <a:avLst>
              <a:gd name="adj1" fmla="val 50000"/>
            </a:avLst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9" name="Group 8">
            <a:extLst>
              <a:ext uri="{FF2B5EF4-FFF2-40B4-BE49-F238E27FC236}">
                <a16:creationId xmlns:a16="http://schemas.microsoft.com/office/drawing/2014/main" id="{471BA40A-B345-452D-B002-186CAB2BAD1C}"/>
              </a:ext>
            </a:extLst>
          </p:cNvPr>
          <p:cNvGrpSpPr/>
          <p:nvPr/>
        </p:nvGrpSpPr>
        <p:grpSpPr>
          <a:xfrm>
            <a:off x="-1603406" y="5974272"/>
            <a:ext cx="21412200" cy="4355115"/>
            <a:chOff x="0" y="0"/>
            <a:chExt cx="2993618" cy="1217520"/>
          </a:xfrm>
          <a:solidFill>
            <a:srgbClr val="3557FF"/>
          </a:solidFill>
        </p:grpSpPr>
        <p:sp>
          <p:nvSpPr>
            <p:cNvPr id="90" name="Freeform 9">
              <a:extLst>
                <a:ext uri="{FF2B5EF4-FFF2-40B4-BE49-F238E27FC236}">
                  <a16:creationId xmlns:a16="http://schemas.microsoft.com/office/drawing/2014/main" id="{3AB8B3E5-AE70-4720-8D60-83D20109CF03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8125D45-2803-48D8-BDC7-E7FC49FD9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28900"/>
            <a:ext cx="3352800" cy="281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4333C530-D7AB-4D5D-913A-8A6E4481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9" y="2569473"/>
            <a:ext cx="2719315" cy="273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1AAFCB53-DF0B-457D-93BD-3CC24F2DF871}"/>
              </a:ext>
            </a:extLst>
          </p:cNvPr>
          <p:cNvCxnSpPr>
            <a:cxnSpLocks/>
            <a:endCxn id="2050" idx="0"/>
          </p:cNvCxnSpPr>
          <p:nvPr/>
        </p:nvCxnSpPr>
        <p:spPr>
          <a:xfrm rot="10800000" flipV="1">
            <a:off x="2895601" y="1048220"/>
            <a:ext cx="4095159" cy="1580680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Соединитель: уступ 139">
            <a:extLst>
              <a:ext uri="{FF2B5EF4-FFF2-40B4-BE49-F238E27FC236}">
                <a16:creationId xmlns:a16="http://schemas.microsoft.com/office/drawing/2014/main" id="{EA6E73E5-1252-4AB0-BD82-3004270AEC77}"/>
              </a:ext>
            </a:extLst>
          </p:cNvPr>
          <p:cNvCxnSpPr>
            <a:cxnSpLocks/>
          </p:cNvCxnSpPr>
          <p:nvPr/>
        </p:nvCxnSpPr>
        <p:spPr>
          <a:xfrm>
            <a:off x="11334156" y="1028700"/>
            <a:ext cx="3741502" cy="1436490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22">
            <a:extLst>
              <a:ext uri="{FF2B5EF4-FFF2-40B4-BE49-F238E27FC236}">
                <a16:creationId xmlns:a16="http://schemas.microsoft.com/office/drawing/2014/main" id="{26CE02CB-B74C-4521-9A1A-B468E2B083E2}"/>
              </a:ext>
            </a:extLst>
          </p:cNvPr>
          <p:cNvSpPr txBox="1"/>
          <p:nvPr/>
        </p:nvSpPr>
        <p:spPr>
          <a:xfrm>
            <a:off x="1219200" y="5440093"/>
            <a:ext cx="3352801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Мастер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6" name="TextBox 22">
            <a:extLst>
              <a:ext uri="{FF2B5EF4-FFF2-40B4-BE49-F238E27FC236}">
                <a16:creationId xmlns:a16="http://schemas.microsoft.com/office/drawing/2014/main" id="{14FF5ECE-C19F-495E-86B3-A9DA0BBF5172}"/>
              </a:ext>
            </a:extLst>
          </p:cNvPr>
          <p:cNvSpPr txBox="1"/>
          <p:nvPr/>
        </p:nvSpPr>
        <p:spPr>
          <a:xfrm>
            <a:off x="13715999" y="5431883"/>
            <a:ext cx="2719315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Менеджер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2" name="TextBox 22">
            <a:extLst>
              <a:ext uri="{FF2B5EF4-FFF2-40B4-BE49-F238E27FC236}">
                <a16:creationId xmlns:a16="http://schemas.microsoft.com/office/drawing/2014/main" id="{A82B4EDD-0D8A-4F29-BB02-7E5F557BCE51}"/>
              </a:ext>
            </a:extLst>
          </p:cNvPr>
          <p:cNvSpPr txBox="1"/>
          <p:nvPr/>
        </p:nvSpPr>
        <p:spPr>
          <a:xfrm>
            <a:off x="762000" y="6057900"/>
            <a:ext cx="44196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ru-RU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9" name="TextBox 22">
            <a:extLst>
              <a:ext uri="{FF2B5EF4-FFF2-40B4-BE49-F238E27FC236}">
                <a16:creationId xmlns:a16="http://schemas.microsoft.com/office/drawing/2014/main" id="{576A66CC-7FF5-4C1A-91F9-C71EBAA77B61}"/>
              </a:ext>
            </a:extLst>
          </p:cNvPr>
          <p:cNvSpPr txBox="1"/>
          <p:nvPr/>
        </p:nvSpPr>
        <p:spPr>
          <a:xfrm>
            <a:off x="10287000" y="6057900"/>
            <a:ext cx="7696202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Регистрация клиентов и автомобилей.</a:t>
            </a:r>
          </a:p>
          <a:p>
            <a:pPr algn="r"/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Создание и редактирование заказов.</a:t>
            </a:r>
          </a:p>
          <a:p>
            <a:pPr algn="r"/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Просмотр отчетов.</a:t>
            </a:r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110D4C51-9E73-435E-A026-F053D8817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200" y="61471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 descr="Picture background">
            <a:extLst>
              <a:ext uri="{FF2B5EF4-FFF2-40B4-BE49-F238E27FC236}">
                <a16:creationId xmlns:a16="http://schemas.microsoft.com/office/drawing/2014/main" id="{A0F380D4-B3DA-4A23-B3B2-4B0677BF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200" y="658007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4" descr="Picture background">
            <a:extLst>
              <a:ext uri="{FF2B5EF4-FFF2-40B4-BE49-F238E27FC236}">
                <a16:creationId xmlns:a16="http://schemas.microsoft.com/office/drawing/2014/main" id="{37B2730F-61AD-47E6-B69C-17EEADF66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200" y="70130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Picture background">
            <a:extLst>
              <a:ext uri="{FF2B5EF4-FFF2-40B4-BE49-F238E27FC236}">
                <a16:creationId xmlns:a16="http://schemas.microsoft.com/office/drawing/2014/main" id="{E2161C0E-F72C-4811-BD85-1D338A7E0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11" y="6063156"/>
            <a:ext cx="375744" cy="37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4" descr="Picture background">
            <a:extLst>
              <a:ext uri="{FF2B5EF4-FFF2-40B4-BE49-F238E27FC236}">
                <a16:creationId xmlns:a16="http://schemas.microsoft.com/office/drawing/2014/main" id="{63A65BFB-4293-4F44-96F5-8A7FE2A4A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54" y="6520356"/>
            <a:ext cx="375744" cy="37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4" descr="Picture background">
            <a:extLst>
              <a:ext uri="{FF2B5EF4-FFF2-40B4-BE49-F238E27FC236}">
                <a16:creationId xmlns:a16="http://schemas.microsoft.com/office/drawing/2014/main" id="{695C0355-0CFE-42E6-B33E-3797DB43F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11" y="6977556"/>
            <a:ext cx="375744" cy="37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Picture background">
            <a:extLst>
              <a:ext uri="{FF2B5EF4-FFF2-40B4-BE49-F238E27FC236}">
                <a16:creationId xmlns:a16="http://schemas.microsoft.com/office/drawing/2014/main" id="{BAF96220-4FD4-A0B2-5C77-A8F29F18D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430" y="4564389"/>
            <a:ext cx="2719315" cy="273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2">
            <a:extLst>
              <a:ext uri="{FF2B5EF4-FFF2-40B4-BE49-F238E27FC236}">
                <a16:creationId xmlns:a16="http://schemas.microsoft.com/office/drawing/2014/main" id="{234916BF-DC11-92B1-3403-ED4BB2207C60}"/>
              </a:ext>
            </a:extLst>
          </p:cNvPr>
          <p:cNvSpPr txBox="1"/>
          <p:nvPr/>
        </p:nvSpPr>
        <p:spPr>
          <a:xfrm>
            <a:off x="393510" y="6055076"/>
            <a:ext cx="593109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Просмотр назначенных работ.</a:t>
            </a:r>
          </a:p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Отметка о выполнении работ.</a:t>
            </a:r>
          </a:p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Учет использованных материалов.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DBA0858-17A1-C8A5-C5EC-9A13A5AD51EB}"/>
              </a:ext>
            </a:extLst>
          </p:cNvPr>
          <p:cNvSpPr/>
          <p:nvPr/>
        </p:nvSpPr>
        <p:spPr>
          <a:xfrm>
            <a:off x="4690712" y="7399245"/>
            <a:ext cx="9198535" cy="234043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4AE0EB2B-89C0-86A8-756C-E6D0D492E824}"/>
              </a:ext>
            </a:extLst>
          </p:cNvPr>
          <p:cNvSpPr txBox="1"/>
          <p:nvPr/>
        </p:nvSpPr>
        <p:spPr>
          <a:xfrm>
            <a:off x="7801023" y="7513621"/>
            <a:ext cx="2719315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Администратор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5" name="Picture 4" descr="Picture background">
            <a:extLst>
              <a:ext uri="{FF2B5EF4-FFF2-40B4-BE49-F238E27FC236}">
                <a16:creationId xmlns:a16="http://schemas.microsoft.com/office/drawing/2014/main" id="{D9548CA4-E17F-45D9-B2AB-4B09627C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90423" y="8151830"/>
            <a:ext cx="375744" cy="37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4" descr="Picture background">
            <a:extLst>
              <a:ext uri="{FF2B5EF4-FFF2-40B4-BE49-F238E27FC236}">
                <a16:creationId xmlns:a16="http://schemas.microsoft.com/office/drawing/2014/main" id="{B062D369-4648-4B5A-9DDC-64C0B8749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90423" y="8619111"/>
            <a:ext cx="375744" cy="37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22">
            <a:extLst>
              <a:ext uri="{FF2B5EF4-FFF2-40B4-BE49-F238E27FC236}">
                <a16:creationId xmlns:a16="http://schemas.microsoft.com/office/drawing/2014/main" id="{1389E508-A182-24C0-9F7A-98A2443F3880}"/>
              </a:ext>
            </a:extLst>
          </p:cNvPr>
          <p:cNvSpPr txBox="1"/>
          <p:nvPr/>
        </p:nvSpPr>
        <p:spPr>
          <a:xfrm>
            <a:off x="5617135" y="8124472"/>
            <a:ext cx="830580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Полный доступ к системе.</a:t>
            </a:r>
          </a:p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 пользователями и справочниками.</a:t>
            </a:r>
          </a:p>
        </p:txBody>
      </p:sp>
    </p:spTree>
    <p:extLst>
      <p:ext uri="{BB962C8B-B14F-4D97-AF65-F5344CB8AC3E}">
        <p14:creationId xmlns:p14="http://schemas.microsoft.com/office/powerpoint/2010/main" val="318286993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2268564" y="624691"/>
            <a:ext cx="1382436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Анализ существующих систем</a:t>
            </a:r>
            <a:endParaRPr lang="en-US" sz="5153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7" name="Таблица 25">
            <a:extLst>
              <a:ext uri="{FF2B5EF4-FFF2-40B4-BE49-F238E27FC236}">
                <a16:creationId xmlns:a16="http://schemas.microsoft.com/office/drawing/2014/main" id="{C0BB331B-EC88-4D19-B1EC-3946F8937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6456"/>
              </p:ext>
            </p:extLst>
          </p:nvPr>
        </p:nvGraphicFramePr>
        <p:xfrm>
          <a:off x="0" y="1967837"/>
          <a:ext cx="18288000" cy="8319162"/>
        </p:xfrm>
        <a:graphic>
          <a:graphicData uri="http://schemas.openxmlformats.org/drawingml/2006/table">
            <a:tbl>
              <a:tblPr firstRow="1" bandRow="1">
                <a:noFill/>
                <a:tableStyleId>{5202B0CA-FC54-4496-8BCA-5EF66A818D29}</a:tableStyleId>
              </a:tblPr>
              <a:tblGrid>
                <a:gridCol w="5490838">
                  <a:extLst>
                    <a:ext uri="{9D8B030D-6E8A-4147-A177-3AD203B41FA5}">
                      <a16:colId xmlns:a16="http://schemas.microsoft.com/office/drawing/2014/main" val="433183058"/>
                    </a:ext>
                  </a:extLst>
                </a:gridCol>
                <a:gridCol w="4237828">
                  <a:extLst>
                    <a:ext uri="{9D8B030D-6E8A-4147-A177-3AD203B41FA5}">
                      <a16:colId xmlns:a16="http://schemas.microsoft.com/office/drawing/2014/main" val="2869574624"/>
                    </a:ext>
                  </a:extLst>
                </a:gridCol>
                <a:gridCol w="4279667">
                  <a:extLst>
                    <a:ext uri="{9D8B030D-6E8A-4147-A177-3AD203B41FA5}">
                      <a16:colId xmlns:a16="http://schemas.microsoft.com/office/drawing/2014/main" val="2033010315"/>
                    </a:ext>
                  </a:extLst>
                </a:gridCol>
                <a:gridCol w="4279667">
                  <a:extLst>
                    <a:ext uri="{9D8B030D-6E8A-4147-A177-3AD203B41FA5}">
                      <a16:colId xmlns:a16="http://schemas.microsoft.com/office/drawing/2014/main" val="622601839"/>
                    </a:ext>
                  </a:extLst>
                </a:gridCol>
              </a:tblGrid>
              <a:tr h="1028408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Функционал / Критерий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Ручной учет (Бумага, </a:t>
                      </a:r>
                      <a:r>
                        <a:rPr lang="en-US" sz="2800" b="1" i="0" kern="1200" dirty="0">
                          <a:solidFill>
                            <a:schemeClr val="lt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Excel)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Универсальные системы (CRM)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Специализированное ПО («1С:Автосервис»)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13775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Учет клиентов и авто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872692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Формирование заказ-нарядов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(вручную)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(с доработкой)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365968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Автоматический расчет стоимости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33954"/>
                  </a:ext>
                </a:extLst>
              </a:tr>
              <a:tr h="1120306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Учет материалов и списание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(сложно)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423087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Многопользовательский доступ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</a:t>
                      </a:r>
                      <a:endParaRPr lang="ru-RU" sz="2800" b="1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116718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Гибкость настройки под бизнес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(сложно)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(ограничено рамками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конф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050729"/>
                  </a:ext>
                </a:extLst>
              </a:tr>
              <a:tr h="1028408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Стоимость внедрения</a:t>
                      </a:r>
                      <a:endParaRPr lang="ru-RU" sz="28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+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(низкая)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(высокая)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–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(лицензия и обновления)</a:t>
                      </a:r>
                      <a:endParaRPr lang="ru-RU" sz="2800" b="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61894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3557FF"/>
            </a:gs>
            <a:gs pos="61000">
              <a:schemeClr val="tx1">
                <a:lumMod val="65000"/>
                <a:lumOff val="35000"/>
                <a:alpha val="96000"/>
              </a:schemeClr>
            </a:gs>
            <a:gs pos="60000">
              <a:srgbClr val="3557FF">
                <a:shade val="100000"/>
                <a:satMod val="115000"/>
                <a:lumMod val="98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88EF2D-ED58-70C3-AD07-5C887411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75" b="35009"/>
          <a:stretch>
            <a:fillRect/>
          </a:stretch>
        </p:blipFill>
        <p:spPr>
          <a:xfrm rot="19823793">
            <a:off x="12646549" y="697384"/>
            <a:ext cx="5626363" cy="3018529"/>
          </a:xfrm>
          <a:prstGeom prst="rect">
            <a:avLst/>
          </a:prstGeom>
        </p:spPr>
      </p:pic>
      <p:grpSp>
        <p:nvGrpSpPr>
          <p:cNvPr id="12" name="Group 8">
            <a:extLst>
              <a:ext uri="{FF2B5EF4-FFF2-40B4-BE49-F238E27FC236}">
                <a16:creationId xmlns:a16="http://schemas.microsoft.com/office/drawing/2014/main" id="{6A2B2260-1B1C-40A8-1206-0D1C2C47B498}"/>
              </a:ext>
            </a:extLst>
          </p:cNvPr>
          <p:cNvGrpSpPr/>
          <p:nvPr/>
        </p:nvGrpSpPr>
        <p:grpSpPr>
          <a:xfrm>
            <a:off x="6858000" y="5986531"/>
            <a:ext cx="4343396" cy="1252083"/>
            <a:chOff x="0" y="0"/>
            <a:chExt cx="2993618" cy="1217520"/>
          </a:xfrm>
          <a:noFill/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124B29C2-EC42-BEC6-02EC-C45C7F9CADC1}"/>
                </a:ext>
              </a:extLst>
            </p:cNvPr>
            <p:cNvSpPr/>
            <p:nvPr/>
          </p:nvSpPr>
          <p:spPr>
            <a:xfrm>
              <a:off x="0" y="0"/>
              <a:ext cx="2993619" cy="1217520"/>
            </a:xfrm>
            <a:custGeom>
              <a:avLst/>
              <a:gdLst/>
              <a:ahLst/>
              <a:cxnLst/>
              <a:rect l="l" t="t" r="r" b="b"/>
              <a:pathLst>
                <a:path w="2993619" h="121752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grpFill/>
            <a:ln w="31750">
              <a:solidFill>
                <a:schemeClr val="tx1"/>
              </a:solidFill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2268564" y="624691"/>
            <a:ext cx="1382436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Средства проектирования и разработки</a:t>
            </a:r>
            <a:endParaRPr lang="en-US" sz="5153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E8F63-5AF6-4226-BDBD-37404220B5E5}"/>
              </a:ext>
            </a:extLst>
          </p:cNvPr>
          <p:cNvSpPr txBox="1"/>
          <p:nvPr/>
        </p:nvSpPr>
        <p:spPr>
          <a:xfrm>
            <a:off x="13908133" y="8418844"/>
            <a:ext cx="3905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Django</a:t>
            </a:r>
            <a:r>
              <a:rPr lang="en-US" dirty="0"/>
              <a:t> - </a:t>
            </a:r>
            <a:r>
              <a:rPr lang="ru-RU" dirty="0"/>
              <a:t>Веб-фреймворк с открытым исходным кодом, написанный на Python, который позволяет быстро создавать безопасные и масштабируемые веб-приложения.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9A17-DB78-4043-8719-ED6DCB8363EB}"/>
              </a:ext>
            </a:extLst>
          </p:cNvPr>
          <p:cNvSpPr txBox="1"/>
          <p:nvPr/>
        </p:nvSpPr>
        <p:spPr>
          <a:xfrm>
            <a:off x="224763" y="5137245"/>
            <a:ext cx="4347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SQLite</a:t>
            </a:r>
            <a:r>
              <a:rPr lang="ru-RU" dirty="0"/>
              <a:t> — это компактная, встраиваемая реляционная СУБД с открытым кодом, которая не требует установки сервера.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D128AB5-2CB8-1FC5-3381-201EC0487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4" y="3000182"/>
            <a:ext cx="4419060" cy="209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ython (programming language) - Wikipedia">
            <a:extLst>
              <a:ext uri="{FF2B5EF4-FFF2-40B4-BE49-F238E27FC236}">
                <a16:creationId xmlns:a16="http://schemas.microsoft.com/office/drawing/2014/main" id="{901FF9E3-693A-D50D-3383-3CA790126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180395"/>
            <a:ext cx="1694071" cy="169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D6CD4A-3A13-061E-DF6A-E9C021A51D23}"/>
              </a:ext>
            </a:extLst>
          </p:cNvPr>
          <p:cNvSpPr txBox="1"/>
          <p:nvPr/>
        </p:nvSpPr>
        <p:spPr>
          <a:xfrm>
            <a:off x="7191375" y="6086400"/>
            <a:ext cx="3905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Python</a:t>
            </a:r>
            <a:r>
              <a:rPr lang="ru-RU" dirty="0"/>
              <a:t> —</a:t>
            </a:r>
            <a:r>
              <a:rPr lang="en-US" dirty="0"/>
              <a:t> </a:t>
            </a:r>
            <a:r>
              <a:rPr lang="ru-RU" dirty="0"/>
              <a:t>универсальный язык программирования высокого уровня, используемый для веб-разработки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128" name="Picture 8" descr="Django - что это за фреймворк на Python: возможности и преимущества">
            <a:extLst>
              <a:ext uri="{FF2B5EF4-FFF2-40B4-BE49-F238E27FC236}">
                <a16:creationId xmlns:a16="http://schemas.microsoft.com/office/drawing/2014/main" id="{495EBB5A-5B56-06E4-05B3-DA29235A4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1580" y="7298314"/>
            <a:ext cx="3188905" cy="110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9BF0F79-371F-4532-1D45-02FFA08A3B3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2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300"/>
                    </a14:imgEffect>
                    <a14:imgEffect>
                      <a14:saturation sat="99000"/>
                    </a14:imgEffect>
                    <a14:imgEffect>
                      <a14:brightnessContrast bright="-84000" contrast="-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6563" y="6086400"/>
            <a:ext cx="6705600" cy="691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2963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0" y="354849"/>
            <a:ext cx="18288000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Проектирование ИС.</a:t>
            </a:r>
          </a:p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Диаграммы</a:t>
            </a:r>
            <a:endParaRPr lang="en-US" sz="5153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08D7F5C9-CD32-4BA5-B6AD-B59BE5226296}"/>
              </a:ext>
            </a:extLst>
          </p:cNvPr>
          <p:cNvSpPr txBox="1"/>
          <p:nvPr/>
        </p:nvSpPr>
        <p:spPr>
          <a:xfrm>
            <a:off x="4909090" y="9329422"/>
            <a:ext cx="8469820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153"/>
              </a:lnSpc>
              <a:spcBef>
                <a:spcPct val="0"/>
              </a:spcBef>
            </a:pPr>
            <a:r>
              <a:rPr lang="ru-RU" sz="32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Диаграмма вариантов использования</a:t>
            </a:r>
            <a:endParaRPr lang="en-US" sz="32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107DDE-B8E7-9F25-FCE2-32533F971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781300"/>
            <a:ext cx="10363200" cy="590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5329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0" y="354849"/>
            <a:ext cx="18288000" cy="1365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Проектирование ИС.</a:t>
            </a:r>
          </a:p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Диаграммы</a:t>
            </a:r>
            <a:endParaRPr lang="en-US" sz="5153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6E6A5220-07EE-4B50-99FC-9F4FA7C5BD97}"/>
              </a:ext>
            </a:extLst>
          </p:cNvPr>
          <p:cNvSpPr txBox="1"/>
          <p:nvPr/>
        </p:nvSpPr>
        <p:spPr>
          <a:xfrm>
            <a:off x="7200900" y="9524778"/>
            <a:ext cx="3886200" cy="623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153"/>
              </a:lnSpc>
              <a:spcBef>
                <a:spcPct val="0"/>
              </a:spcBef>
            </a:pPr>
            <a:r>
              <a:rPr lang="ru-RU" sz="32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Диаграмма классов</a:t>
            </a:r>
            <a:endParaRPr lang="en-US" sz="32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781C16-CD4C-8362-C503-C70013590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722" y="2322686"/>
            <a:ext cx="6472555" cy="661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0691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8" name="TextBox 8"/>
          <p:cNvSpPr txBox="1"/>
          <p:nvPr/>
        </p:nvSpPr>
        <p:spPr>
          <a:xfrm>
            <a:off x="0" y="354849"/>
            <a:ext cx="18288000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Проектирование ИС.</a:t>
            </a:r>
          </a:p>
          <a:p>
            <a:pPr lvl="0" algn="ctr">
              <a:lnSpc>
                <a:spcPts val="5153"/>
              </a:lnSpc>
              <a:spcBef>
                <a:spcPct val="0"/>
              </a:spcBef>
            </a:pPr>
            <a:r>
              <a:rPr lang="ru-RU" sz="5153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Диаграммы</a:t>
            </a:r>
            <a:endParaRPr lang="en-US" sz="5153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08D7F5C9-CD32-4BA5-B6AD-B59BE5226296}"/>
              </a:ext>
            </a:extLst>
          </p:cNvPr>
          <p:cNvSpPr txBox="1"/>
          <p:nvPr/>
        </p:nvSpPr>
        <p:spPr>
          <a:xfrm>
            <a:off x="6248400" y="9621261"/>
            <a:ext cx="5049227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153"/>
              </a:lnSpc>
              <a:spcBef>
                <a:spcPct val="0"/>
              </a:spcBef>
            </a:pPr>
            <a:r>
              <a:rPr lang="ru-RU" sz="32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Диаграмма деятельности</a:t>
            </a:r>
            <a:endParaRPr lang="en-US" sz="32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21B78D-17C1-CA7D-D727-0CD5A10D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229101"/>
            <a:ext cx="5791199" cy="739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5999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FA260100-04A1-5B75-810D-62EE0AC5D7F7}"/>
              </a:ext>
            </a:extLst>
          </p:cNvPr>
          <p:cNvSpPr/>
          <p:nvPr/>
        </p:nvSpPr>
        <p:spPr>
          <a:xfrm>
            <a:off x="10591800" y="2354657"/>
            <a:ext cx="7543800" cy="3952606"/>
          </a:xfrm>
          <a:prstGeom prst="roundRect">
            <a:avLst/>
          </a:prstGeom>
          <a:solidFill>
            <a:srgbClr val="3557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85C9D7A8-F0D8-A0F5-C96F-C26ACBB66EF8}"/>
              </a:ext>
            </a:extLst>
          </p:cNvPr>
          <p:cNvSpPr/>
          <p:nvPr/>
        </p:nvSpPr>
        <p:spPr>
          <a:xfrm>
            <a:off x="76200" y="2320100"/>
            <a:ext cx="7543800" cy="3952606"/>
          </a:xfrm>
          <a:prstGeom prst="roundRect">
            <a:avLst/>
          </a:prstGeom>
          <a:solidFill>
            <a:srgbClr val="3557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BCA62E4-1FDD-EDCF-169F-709C6672C7C6}"/>
              </a:ext>
            </a:extLst>
          </p:cNvPr>
          <p:cNvSpPr/>
          <p:nvPr/>
        </p:nvSpPr>
        <p:spPr>
          <a:xfrm>
            <a:off x="4495800" y="7089984"/>
            <a:ext cx="9296400" cy="2549316"/>
          </a:xfrm>
          <a:prstGeom prst="roundRect">
            <a:avLst/>
          </a:prstGeom>
          <a:solidFill>
            <a:srgbClr val="3557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88620D6-D354-1C80-3103-ED7D87B47FCB}"/>
              </a:ext>
            </a:extLst>
          </p:cNvPr>
          <p:cNvSpPr/>
          <p:nvPr/>
        </p:nvSpPr>
        <p:spPr>
          <a:xfrm>
            <a:off x="11425239" y="1894073"/>
            <a:ext cx="4333875" cy="381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155C0D81-C8BF-C2F0-F315-3FC06EE25E7D}"/>
              </a:ext>
            </a:extLst>
          </p:cNvPr>
          <p:cNvSpPr/>
          <p:nvPr/>
        </p:nvSpPr>
        <p:spPr>
          <a:xfrm>
            <a:off x="619125" y="1827431"/>
            <a:ext cx="4333875" cy="381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C25422A-7794-3DA4-EDCD-776DA6A530FF}"/>
              </a:ext>
            </a:extLst>
          </p:cNvPr>
          <p:cNvSpPr/>
          <p:nvPr/>
        </p:nvSpPr>
        <p:spPr>
          <a:xfrm>
            <a:off x="7380355" y="6608914"/>
            <a:ext cx="3668645" cy="381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1032329" y="669188"/>
            <a:ext cx="1284845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sz="56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Экономический расчет</a:t>
            </a:r>
            <a:endParaRPr lang="en-US" sz="56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8B79EBD-2592-7B5B-5F91-757A753C9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66881"/>
              </p:ext>
            </p:extLst>
          </p:nvPr>
        </p:nvGraphicFramePr>
        <p:xfrm>
          <a:off x="685800" y="2415540"/>
          <a:ext cx="6324600" cy="3108960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1155414790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961935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Этап разработки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Трудозатраты (часы)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82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Анализ предметной области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2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Проектирование системы и БД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49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Программирование (</a:t>
                      </a:r>
                      <a:r>
                        <a:rPr lang="en-US" b="0" dirty="0">
                          <a:effectLst/>
                        </a:rPr>
                        <a:t>Django)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1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Тестирование и отладка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16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Документирование и внедрение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964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Итого трудозатраты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820 часов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77726"/>
                  </a:ext>
                </a:extLst>
              </a:tr>
            </a:tbl>
          </a:graphicData>
        </a:graphic>
      </p:graphicFrame>
      <p:sp>
        <p:nvSpPr>
          <p:cNvPr id="5" name="TextBox 18">
            <a:extLst>
              <a:ext uri="{FF2B5EF4-FFF2-40B4-BE49-F238E27FC236}">
                <a16:creationId xmlns:a16="http://schemas.microsoft.com/office/drawing/2014/main" id="{0A4CF314-8719-EAC2-1986-074AF4D1A212}"/>
              </a:ext>
            </a:extLst>
          </p:cNvPr>
          <p:cNvSpPr txBox="1"/>
          <p:nvPr/>
        </p:nvSpPr>
        <p:spPr>
          <a:xfrm>
            <a:off x="685800" y="1562100"/>
            <a:ext cx="4191000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Стоимость разработки(трудозатраты)</a:t>
            </a:r>
            <a:endParaRPr lang="en-US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2CF8243-E2A5-7E9A-7BBB-DC90F7F4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63959"/>
              </p:ext>
            </p:extLst>
          </p:nvPr>
        </p:nvGraphicFramePr>
        <p:xfrm>
          <a:off x="11125200" y="2375995"/>
          <a:ext cx="6477000" cy="3910505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81687462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3428290843"/>
                    </a:ext>
                  </a:extLst>
                </a:gridCol>
              </a:tblGrid>
              <a:tr h="488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Статья расходов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Стоимость (руб.)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047937"/>
                  </a:ext>
                </a:extLst>
              </a:tr>
              <a:tr h="8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Серверное оборудование (или аренда VPS)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80 000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768"/>
                  </a:ext>
                </a:extLst>
              </a:tr>
              <a:tr h="8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Настройка сервера и сопровождение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40 000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986465"/>
                  </a:ext>
                </a:extLst>
              </a:tr>
              <a:tr h="8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Прочие расходы (интернет, ПО, электроэнергия)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30 000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339703"/>
                  </a:ext>
                </a:extLst>
              </a:tr>
              <a:tr h="8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Итого дополнительные затраты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150 000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039622"/>
                  </a:ext>
                </a:extLst>
              </a:tr>
            </a:tbl>
          </a:graphicData>
        </a:graphic>
      </p:graphicFrame>
      <p:sp>
        <p:nvSpPr>
          <p:cNvPr id="8" name="TextBox 18">
            <a:extLst>
              <a:ext uri="{FF2B5EF4-FFF2-40B4-BE49-F238E27FC236}">
                <a16:creationId xmlns:a16="http://schemas.microsoft.com/office/drawing/2014/main" id="{BC93A7C8-AC60-B43F-5896-732360342CDC}"/>
              </a:ext>
            </a:extLst>
          </p:cNvPr>
          <p:cNvSpPr txBox="1"/>
          <p:nvPr/>
        </p:nvSpPr>
        <p:spPr>
          <a:xfrm>
            <a:off x="11496677" y="1638300"/>
            <a:ext cx="4191000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Дополнительные затраты</a:t>
            </a:r>
            <a:endParaRPr lang="en-US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ABCA3-E6B7-0789-AD58-CC3490D096DD}"/>
                  </a:ext>
                </a:extLst>
              </p:cNvPr>
              <p:cNvSpPr txBox="1"/>
              <p:nvPr/>
            </p:nvSpPr>
            <p:spPr>
              <a:xfrm>
                <a:off x="609600" y="5600700"/>
                <a:ext cx="9144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solidFill>
                      <a:schemeClr val="tx1"/>
                    </a:solidFill>
                    <a:effectLst/>
                    <a:latin typeface="system-ui"/>
                  </a:rPr>
                  <a:t> Ставка специалиста: 1 200 руб./час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solidFill>
                      <a:schemeClr val="tx1"/>
                    </a:solidFill>
                    <a:effectLst/>
                    <a:latin typeface="system-ui"/>
                  </a:rPr>
                  <a:t> Стоимость разработки: </a:t>
                </a:r>
                <a14:m>
                  <m:oMath xmlns:m="http://schemas.openxmlformats.org/officeDocument/2006/math"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820</m:t>
                    </m:r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×1</m:t>
                    </m:r>
                    <m:r>
                      <m:rPr>
                        <m:nor/>
                      </m:rP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200=984</m:t>
                    </m:r>
                    <m:r>
                      <m:rPr>
                        <m:nor/>
                      </m:rP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ru-RU" i="0" dirty="0">
                    <a:solidFill>
                      <a:schemeClr val="tx1"/>
                    </a:solidFill>
                    <a:effectLst/>
                    <a:latin typeface="system-ui"/>
                  </a:rPr>
                  <a:t>руб.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8ABCA3-E6B7-0789-AD58-CC3490D09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600700"/>
                <a:ext cx="9144000" cy="646331"/>
              </a:xfrm>
              <a:prstGeom prst="rect">
                <a:avLst/>
              </a:prstGeom>
              <a:blipFill>
                <a:blip r:embed="rId2"/>
                <a:stretch>
                  <a:fillRect l="-400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AA5B89A8-8431-2C2C-99EB-DE6E02F37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012884"/>
              </p:ext>
            </p:extLst>
          </p:nvPr>
        </p:nvGraphicFramePr>
        <p:xfrm>
          <a:off x="5029200" y="7115659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7501597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72406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Вид затрат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Сумма (руб.)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592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Стоимость разработки (ФОТ)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984 000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797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Дополнительные затраты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150 000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4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Прямые затраты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1 134 000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57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Непредвиденные расходы (резерв ~5-6%)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66 000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257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>
                          <a:effectLst/>
                        </a:rPr>
                        <a:t>ОБЩАЯ СТОИМОСТЬ ПРОЕКТА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0" dirty="0">
                          <a:effectLst/>
                        </a:rPr>
                        <a:t>~1 200 000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8742"/>
                  </a:ext>
                </a:extLst>
              </a:tr>
            </a:tbl>
          </a:graphicData>
        </a:graphic>
      </p:graphicFrame>
      <p:sp>
        <p:nvSpPr>
          <p:cNvPr id="16" name="TextBox 18">
            <a:extLst>
              <a:ext uri="{FF2B5EF4-FFF2-40B4-BE49-F238E27FC236}">
                <a16:creationId xmlns:a16="http://schemas.microsoft.com/office/drawing/2014/main" id="{99CA15D0-710A-AFB3-5C82-BD3C0B2EA9F9}"/>
              </a:ext>
            </a:extLst>
          </p:cNvPr>
          <p:cNvSpPr txBox="1"/>
          <p:nvPr/>
        </p:nvSpPr>
        <p:spPr>
          <a:xfrm>
            <a:off x="7658100" y="6362700"/>
            <a:ext cx="4191000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Итоговая стоимость проекта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66502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6">
            <a:extLst>
              <a:ext uri="{FF2B5EF4-FFF2-40B4-BE49-F238E27FC236}">
                <a16:creationId xmlns:a16="http://schemas.microsoft.com/office/drawing/2014/main" id="{E502A289-15A6-4488-962B-E6A32CD34B2D}"/>
              </a:ext>
            </a:extLst>
          </p:cNvPr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127302" y="624844"/>
            <a:ext cx="1284845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sz="56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Реализация </a:t>
            </a:r>
            <a:endParaRPr lang="en-US" sz="56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6" name="Picture 6" descr="Picture background">
            <a:extLst>
              <a:ext uri="{FF2B5EF4-FFF2-40B4-BE49-F238E27FC236}">
                <a16:creationId xmlns:a16="http://schemas.microsoft.com/office/drawing/2014/main" id="{CAD07BB2-FC01-40A9-911B-834213684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478" y="230459"/>
            <a:ext cx="1359658" cy="136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69D817A7-C633-49F5-A2C4-D693AD4F9E6C}"/>
              </a:ext>
            </a:extLst>
          </p:cNvPr>
          <p:cNvSpPr txBox="1"/>
          <p:nvPr/>
        </p:nvSpPr>
        <p:spPr>
          <a:xfrm>
            <a:off x="13983788" y="813999"/>
            <a:ext cx="2719315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</a:rPr>
              <a:t>Менеджер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E3A6D1-C925-E3C7-588B-73DB0B6CE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95"/>
          <a:stretch>
            <a:fillRect/>
          </a:stretch>
        </p:blipFill>
        <p:spPr>
          <a:xfrm>
            <a:off x="0" y="1967833"/>
            <a:ext cx="8292169" cy="309946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247567-2832-5657-5B02-368E3074F5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175" b="38995"/>
          <a:stretch>
            <a:fillRect/>
          </a:stretch>
        </p:blipFill>
        <p:spPr>
          <a:xfrm>
            <a:off x="0" y="6066510"/>
            <a:ext cx="8292169" cy="30994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BA995A-8917-DB0B-5425-3693FD1EEA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595"/>
          <a:stretch>
            <a:fillRect/>
          </a:stretch>
        </p:blipFill>
        <p:spPr>
          <a:xfrm>
            <a:off x="8977381" y="1967914"/>
            <a:ext cx="9082019" cy="2990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D65E5-67BC-3C30-7F9F-C66DC35FD44D}"/>
              </a:ext>
            </a:extLst>
          </p:cNvPr>
          <p:cNvSpPr txBox="1"/>
          <p:nvPr/>
        </p:nvSpPr>
        <p:spPr>
          <a:xfrm>
            <a:off x="-609600" y="5161280"/>
            <a:ext cx="253492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Главная страница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1567E-8A1F-CA29-1816-2A048D7F1BF4}"/>
              </a:ext>
            </a:extLst>
          </p:cNvPr>
          <p:cNvSpPr txBox="1"/>
          <p:nvPr/>
        </p:nvSpPr>
        <p:spPr>
          <a:xfrm>
            <a:off x="-5080" y="9312786"/>
            <a:ext cx="223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Добавление клиента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B99B3-DFBC-3B5D-CFB5-E97DA018FE36}"/>
              </a:ext>
            </a:extLst>
          </p:cNvPr>
          <p:cNvSpPr txBox="1"/>
          <p:nvPr/>
        </p:nvSpPr>
        <p:spPr>
          <a:xfrm>
            <a:off x="8610600" y="5067300"/>
            <a:ext cx="24561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клиентов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51A718-072A-01A1-E184-6399BD0463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292"/>
          <a:stretch>
            <a:fillRect/>
          </a:stretch>
        </p:blipFill>
        <p:spPr>
          <a:xfrm>
            <a:off x="8977381" y="6067895"/>
            <a:ext cx="8128418" cy="3723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F46B70-78E5-9C1A-D615-C4F427588847}"/>
              </a:ext>
            </a:extLst>
          </p:cNvPr>
          <p:cNvSpPr txBox="1"/>
          <p:nvPr/>
        </p:nvSpPr>
        <p:spPr>
          <a:xfrm>
            <a:off x="8977380" y="9791700"/>
            <a:ext cx="2909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Добавление автомобиля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298629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6">
            <a:extLst>
              <a:ext uri="{FF2B5EF4-FFF2-40B4-BE49-F238E27FC236}">
                <a16:creationId xmlns:a16="http://schemas.microsoft.com/office/drawing/2014/main" id="{E502A289-15A6-4488-962B-E6A32CD34B2D}"/>
              </a:ext>
            </a:extLst>
          </p:cNvPr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206639" y="624844"/>
            <a:ext cx="1284845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sz="56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Реализация</a:t>
            </a:r>
            <a:endParaRPr lang="en-US" sz="56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6" name="Picture 6" descr="Picture background">
            <a:extLst>
              <a:ext uri="{FF2B5EF4-FFF2-40B4-BE49-F238E27FC236}">
                <a16:creationId xmlns:a16="http://schemas.microsoft.com/office/drawing/2014/main" id="{CAD07BB2-FC01-40A9-911B-834213684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478" y="230459"/>
            <a:ext cx="1359658" cy="136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22">
            <a:extLst>
              <a:ext uri="{FF2B5EF4-FFF2-40B4-BE49-F238E27FC236}">
                <a16:creationId xmlns:a16="http://schemas.microsoft.com/office/drawing/2014/main" id="{69D817A7-C633-49F5-A2C4-D693AD4F9E6C}"/>
              </a:ext>
            </a:extLst>
          </p:cNvPr>
          <p:cNvSpPr txBox="1"/>
          <p:nvPr/>
        </p:nvSpPr>
        <p:spPr>
          <a:xfrm>
            <a:off x="13983788" y="813999"/>
            <a:ext cx="2719315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Мастер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5203D9-703E-6DB2-00D5-EB4FC8D489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572"/>
          <a:stretch>
            <a:fillRect/>
          </a:stretch>
        </p:blipFill>
        <p:spPr>
          <a:xfrm>
            <a:off x="206639" y="2095500"/>
            <a:ext cx="8128418" cy="2057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A05162-DAE0-CC05-9015-F0038C9BC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078" y="2052372"/>
            <a:ext cx="8128418" cy="44769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C12757-4C64-0A35-CBD8-0E8D4280E7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67"/>
          <a:stretch>
            <a:fillRect/>
          </a:stretch>
        </p:blipFill>
        <p:spPr>
          <a:xfrm>
            <a:off x="206639" y="6819900"/>
            <a:ext cx="8128418" cy="32386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AA4E9B-8EEA-0E5E-C640-4A27A836B0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7652"/>
          <a:stretch>
            <a:fillRect/>
          </a:stretch>
        </p:blipFill>
        <p:spPr>
          <a:xfrm>
            <a:off x="9542078" y="7429500"/>
            <a:ext cx="8128418" cy="23569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B9E0881-29C6-66DD-5783-DA5DF1C650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0000"/>
          <a:stretch>
            <a:fillRect/>
          </a:stretch>
        </p:blipFill>
        <p:spPr>
          <a:xfrm>
            <a:off x="206639" y="4368742"/>
            <a:ext cx="8128418" cy="223531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0EA6E62-DB2B-70DB-40DF-B86694C01B5A}"/>
              </a:ext>
            </a:extLst>
          </p:cNvPr>
          <p:cNvSpPr txBox="1"/>
          <p:nvPr/>
        </p:nvSpPr>
        <p:spPr>
          <a:xfrm>
            <a:off x="-421640" y="3956114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заказ-нарядов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C51DDE-1802-0440-4D16-DB328DC2B576}"/>
              </a:ext>
            </a:extLst>
          </p:cNvPr>
          <p:cNvSpPr txBox="1"/>
          <p:nvPr/>
        </p:nvSpPr>
        <p:spPr>
          <a:xfrm>
            <a:off x="-609600" y="6402465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материалов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1950E0-DF7A-7889-5D36-65DF73F3475D}"/>
              </a:ext>
            </a:extLst>
          </p:cNvPr>
          <p:cNvSpPr txBox="1"/>
          <p:nvPr/>
        </p:nvSpPr>
        <p:spPr>
          <a:xfrm>
            <a:off x="-421640" y="9829479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Добавление заказ наряда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5BAF5A-F501-F235-ED85-EA44E65418B1}"/>
              </a:ext>
            </a:extLst>
          </p:cNvPr>
          <p:cNvSpPr txBox="1"/>
          <p:nvPr/>
        </p:nvSpPr>
        <p:spPr>
          <a:xfrm>
            <a:off x="8673268" y="6375020"/>
            <a:ext cx="437166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работ по заказ наряду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EA93AF-A8EA-23F3-AA2E-82FF615EBCB0}"/>
              </a:ext>
            </a:extLst>
          </p:cNvPr>
          <p:cNvSpPr txBox="1"/>
          <p:nvPr/>
        </p:nvSpPr>
        <p:spPr>
          <a:xfrm>
            <a:off x="8993816" y="9829479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списка работ</a:t>
            </a:r>
          </a:p>
        </p:txBody>
      </p:sp>
    </p:spTree>
    <p:extLst>
      <p:ext uri="{BB962C8B-B14F-4D97-AF65-F5344CB8AC3E}">
        <p14:creationId xmlns:p14="http://schemas.microsoft.com/office/powerpoint/2010/main" val="204294978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6">
            <a:extLst>
              <a:ext uri="{FF2B5EF4-FFF2-40B4-BE49-F238E27FC236}">
                <a16:creationId xmlns:a16="http://schemas.microsoft.com/office/drawing/2014/main" id="{238C7436-A6BC-44C9-B592-7E1D7322F8D2}"/>
              </a:ext>
            </a:extLst>
          </p:cNvPr>
          <p:cNvSpPr/>
          <p:nvPr/>
        </p:nvSpPr>
        <p:spPr>
          <a:xfrm>
            <a:off x="0" y="0"/>
            <a:ext cx="18288000" cy="196783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336725" y="624843"/>
            <a:ext cx="15437889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</a:pPr>
            <a:r>
              <a:rPr lang="ru-RU" sz="5600" dirty="0">
                <a:solidFill>
                  <a:srgbClr val="19191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Работа с пользователями</a:t>
            </a:r>
            <a:endParaRPr lang="en-US" sz="56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2" descr="Picture background">
            <a:extLst>
              <a:ext uri="{FF2B5EF4-FFF2-40B4-BE49-F238E27FC236}">
                <a16:creationId xmlns:a16="http://schemas.microsoft.com/office/drawing/2014/main" id="{948926D3-48F0-43D7-94C6-4371D5D7A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738" y="74581"/>
            <a:ext cx="1812886" cy="147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22">
            <a:extLst>
              <a:ext uri="{FF2B5EF4-FFF2-40B4-BE49-F238E27FC236}">
                <a16:creationId xmlns:a16="http://schemas.microsoft.com/office/drawing/2014/main" id="{7B391294-534D-4D04-96A6-39E2DA98221B}"/>
              </a:ext>
            </a:extLst>
          </p:cNvPr>
          <p:cNvSpPr txBox="1"/>
          <p:nvPr/>
        </p:nvSpPr>
        <p:spPr>
          <a:xfrm>
            <a:off x="12725400" y="813997"/>
            <a:ext cx="4587724" cy="339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ru-RU" sz="280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Администратор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A8DA47-52B8-587E-04BB-7A02B3FE2B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756"/>
          <a:stretch>
            <a:fillRect/>
          </a:stretch>
        </p:blipFill>
        <p:spPr>
          <a:xfrm>
            <a:off x="30480" y="2019300"/>
            <a:ext cx="8128418" cy="2362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6777BC-623B-A3D5-EDF2-45565480380F}"/>
              </a:ext>
            </a:extLst>
          </p:cNvPr>
          <p:cNvSpPr txBox="1"/>
          <p:nvPr/>
        </p:nvSpPr>
        <p:spPr>
          <a:xfrm>
            <a:off x="-533400" y="4381500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Список сотрудников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F8197B-F889-5978-BDDF-2DBE5C07F3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815"/>
          <a:stretch>
            <a:fillRect/>
          </a:stretch>
        </p:blipFill>
        <p:spPr>
          <a:xfrm>
            <a:off x="30480" y="5253053"/>
            <a:ext cx="8128418" cy="30842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20157D-3FAA-5822-3E20-55CC8A755C6A}"/>
              </a:ext>
            </a:extLst>
          </p:cNvPr>
          <p:cNvSpPr txBox="1"/>
          <p:nvPr/>
        </p:nvSpPr>
        <p:spPr>
          <a:xfrm>
            <a:off x="-381000" y="8365213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Авторизация в админку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ACBA1B-3D19-517F-248B-48E19BF19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2149360"/>
            <a:ext cx="8128418" cy="44642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07C67ED-4835-3580-2103-C471EE445FB7}"/>
              </a:ext>
            </a:extLst>
          </p:cNvPr>
          <p:cNvSpPr txBox="1"/>
          <p:nvPr/>
        </p:nvSpPr>
        <p:spPr>
          <a:xfrm>
            <a:off x="9067800" y="6613639"/>
            <a:ext cx="32004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Админка сайта от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django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1201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5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utoShape 2">
            <a:extLst>
              <a:ext uri="{FF2B5EF4-FFF2-40B4-BE49-F238E27FC236}">
                <a16:creationId xmlns:a16="http://schemas.microsoft.com/office/drawing/2014/main" id="{873455F4-3AFF-4624-8118-F8E50662684A}"/>
              </a:ext>
            </a:extLst>
          </p:cNvPr>
          <p:cNvSpPr/>
          <p:nvPr/>
        </p:nvSpPr>
        <p:spPr>
          <a:xfrm>
            <a:off x="10546086" y="0"/>
            <a:ext cx="7741914" cy="10553700"/>
          </a:xfrm>
          <a:prstGeom prst="rect">
            <a:avLst/>
          </a:prstGeom>
          <a:solidFill>
            <a:schemeClr val="bg1"/>
          </a:solidFill>
          <a:effectLst/>
        </p:spPr>
        <p:txBody>
          <a:bodyPr/>
          <a:lstStyle/>
          <a:p>
            <a:endParaRPr lang="ru-RU" dirty="0"/>
          </a:p>
        </p:txBody>
      </p:sp>
      <p:sp>
        <p:nvSpPr>
          <p:cNvPr id="56" name="AutoShape 2">
            <a:extLst>
              <a:ext uri="{FF2B5EF4-FFF2-40B4-BE49-F238E27FC236}">
                <a16:creationId xmlns:a16="http://schemas.microsoft.com/office/drawing/2014/main" id="{BD875521-B3B8-486B-AB45-D9EC85AAFDF9}"/>
              </a:ext>
            </a:extLst>
          </p:cNvPr>
          <p:cNvSpPr/>
          <p:nvPr/>
        </p:nvSpPr>
        <p:spPr>
          <a:xfrm>
            <a:off x="0" y="0"/>
            <a:ext cx="18288000" cy="17114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492640" y="337993"/>
            <a:ext cx="815871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ru-RU" sz="7200" dirty="0">
                <a:latin typeface="Roboto" panose="02000000000000000000" pitchFamily="2" charset="0"/>
                <a:ea typeface="Roboto" panose="02000000000000000000" pitchFamily="2" charset="0"/>
              </a:rPr>
              <a:t>Заключение</a:t>
            </a:r>
            <a:endParaRPr lang="en-US" sz="7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4F0C23-796E-48DD-B212-423791889172}"/>
              </a:ext>
            </a:extLst>
          </p:cNvPr>
          <p:cNvSpPr txBox="1"/>
          <p:nvPr/>
        </p:nvSpPr>
        <p:spPr>
          <a:xfrm>
            <a:off x="2286000" y="2536213"/>
            <a:ext cx="8260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Проведен сравнительный анализ существующих решений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(обоснована разработка собственного веб-приложения)</a:t>
            </a:r>
            <a:endParaRPr lang="ru-RU" sz="24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BAB25A-ABBC-48F6-BE78-BBF932B95AC6}"/>
              </a:ext>
            </a:extLst>
          </p:cNvPr>
          <p:cNvSpPr txBox="1"/>
          <p:nvPr/>
        </p:nvSpPr>
        <p:spPr>
          <a:xfrm>
            <a:off x="2286000" y="4424993"/>
            <a:ext cx="8260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Спроектированы модели ИС автосервиса с применением UML/BPMN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(обеспечена целостность и масштабируемость)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14AC3-5A66-460F-949E-8DC77190BB32}"/>
              </a:ext>
            </a:extLst>
          </p:cNvPr>
          <p:cNvSpPr txBox="1"/>
          <p:nvPr/>
        </p:nvSpPr>
        <p:spPr>
          <a:xfrm>
            <a:off x="2286000" y="6282238"/>
            <a:ext cx="8260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Проведен экономический расчет стоимости разработки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(984 000 </a:t>
            </a:r>
            <a:r>
              <a:rPr lang="ru-RU" sz="24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руб</a:t>
            </a: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доп. расходы 150 000 </a:t>
            </a:r>
            <a:r>
              <a:rPr lang="ru-RU" sz="24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руб</a:t>
            </a: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→ итог ~1 200 000 </a:t>
            </a:r>
            <a:r>
              <a:rPr lang="ru-RU" sz="2400" i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руб</a:t>
            </a: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2400" dirty="0">
              <a:solidFill>
                <a:srgbClr val="19191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A67D06-CA2D-4F3A-9777-562F050675D5}"/>
              </a:ext>
            </a:extLst>
          </p:cNvPr>
          <p:cNvSpPr txBox="1"/>
          <p:nvPr/>
        </p:nvSpPr>
        <p:spPr>
          <a:xfrm>
            <a:off x="2286000" y="8070317"/>
            <a:ext cx="82600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Разработана ИС Автосервис на платформе </a:t>
            </a:r>
            <a:r>
              <a:rPr lang="ru-RU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Django</a:t>
            </a:r>
            <a:r>
              <a:rPr lang="ru-RU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(Python)</a:t>
            </a:r>
            <a:br>
              <a:rPr lang="ru-RU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ru-RU" sz="2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(веб-приложение с ролевым доступом, ORM, админкой, — готово к внедрению)</a:t>
            </a: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200" name="Picture 8" descr="Picture background">
            <a:extLst>
              <a:ext uri="{FF2B5EF4-FFF2-40B4-BE49-F238E27FC236}">
                <a16:creationId xmlns:a16="http://schemas.microsoft.com/office/drawing/2014/main" id="{B3754A96-2936-4E5B-8BF1-4AF8E383A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24" y="6460963"/>
            <a:ext cx="1280638" cy="110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Picture background">
            <a:extLst>
              <a:ext uri="{FF2B5EF4-FFF2-40B4-BE49-F238E27FC236}">
                <a16:creationId xmlns:a16="http://schemas.microsoft.com/office/drawing/2014/main" id="{4A9DFB50-D98C-40CF-B6AC-1C4F6016F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39" y="4381134"/>
            <a:ext cx="1019515" cy="101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4" name="Picture 12" descr="Picture background">
            <a:extLst>
              <a:ext uri="{FF2B5EF4-FFF2-40B4-BE49-F238E27FC236}">
                <a16:creationId xmlns:a16="http://schemas.microsoft.com/office/drawing/2014/main" id="{67FB8B31-E6E8-4360-832E-FAAD63FF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193428"/>
            <a:ext cx="1141072" cy="114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Picture background">
            <a:extLst>
              <a:ext uri="{FF2B5EF4-FFF2-40B4-BE49-F238E27FC236}">
                <a16:creationId xmlns:a16="http://schemas.microsoft.com/office/drawing/2014/main" id="{EF4127B6-070B-4AE9-8F7F-6CED4744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9214" y="2804709"/>
            <a:ext cx="1019515" cy="101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F71B3D1-01FE-461C-8B7D-980E955D8677}"/>
              </a:ext>
            </a:extLst>
          </p:cNvPr>
          <p:cNvSpPr txBox="1"/>
          <p:nvPr/>
        </p:nvSpPr>
        <p:spPr>
          <a:xfrm>
            <a:off x="8224" y="2898969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ru-RU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A6DBE6-C7D0-4381-A2F0-04C170B50B97}"/>
              </a:ext>
            </a:extLst>
          </p:cNvPr>
          <p:cNvSpPr txBox="1"/>
          <p:nvPr/>
        </p:nvSpPr>
        <p:spPr>
          <a:xfrm>
            <a:off x="28181" y="4492257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2.</a:t>
            </a:r>
            <a:endParaRPr lang="ru-RU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9FCFD7-0769-4B3E-BB13-F582308B7883}"/>
              </a:ext>
            </a:extLst>
          </p:cNvPr>
          <p:cNvSpPr txBox="1"/>
          <p:nvPr/>
        </p:nvSpPr>
        <p:spPr>
          <a:xfrm>
            <a:off x="8224" y="6600140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3.</a:t>
            </a:r>
            <a:endParaRPr lang="ru-RU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BB90AC-CE6B-455D-8E1B-964B5230CD7E}"/>
              </a:ext>
            </a:extLst>
          </p:cNvPr>
          <p:cNvSpPr txBox="1"/>
          <p:nvPr/>
        </p:nvSpPr>
        <p:spPr>
          <a:xfrm>
            <a:off x="0" y="8193428"/>
            <a:ext cx="76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4.</a:t>
            </a:r>
            <a:endParaRPr lang="ru-RU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8" name="Picture 2" descr="Picture background">
            <a:extLst>
              <a:ext uri="{FF2B5EF4-FFF2-40B4-BE49-F238E27FC236}">
                <a16:creationId xmlns:a16="http://schemas.microsoft.com/office/drawing/2014/main" id="{3597BBFB-2305-4997-AE3B-5AA3237DA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934" y="9195200"/>
            <a:ext cx="533400" cy="5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F8C81B2-4874-4424-9767-94D686C21509}"/>
              </a:ext>
            </a:extLst>
          </p:cNvPr>
          <p:cNvSpPr txBox="1"/>
          <p:nvPr/>
        </p:nvSpPr>
        <p:spPr>
          <a:xfrm>
            <a:off x="10615522" y="3602295"/>
            <a:ext cx="772473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 клиентами и их автомобилями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Формирование и ведение заказ-нарядов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Назначение работ и сотрудников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Учет использованных материалов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Автоматический расчет стоимости услуг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Отслеживание статуса ремонта в реальном времени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Роли администратор, менеджер, мастер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Централизованное хранение данных 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Веб-интерфейс — работа через браузер без установки ПО</a:t>
            </a: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9995FA7F-0775-4161-A743-DCF62CFED3D4}"/>
              </a:ext>
            </a:extLst>
          </p:cNvPr>
          <p:cNvSpPr txBox="1"/>
          <p:nvPr/>
        </p:nvSpPr>
        <p:spPr>
          <a:xfrm>
            <a:off x="10514147" y="1734424"/>
            <a:ext cx="7741914" cy="1788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ru-RU" sz="4400" b="1" dirty="0">
                <a:latin typeface="Roboto" panose="02000000000000000000" pitchFamily="2" charset="0"/>
                <a:ea typeface="Roboto" panose="02000000000000000000" pitchFamily="2" charset="0"/>
              </a:rPr>
              <a:t>Возможности разработанной системы:</a:t>
            </a:r>
            <a:endParaRPr lang="en-US" sz="44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06E319-2699-5A19-AFC3-9D81EE55E8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74834" y="7941036"/>
            <a:ext cx="2895600" cy="257436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606</Words>
  <Application>Microsoft Office PowerPoint</Application>
  <PresentationFormat>Произвольный</PresentationFormat>
  <Paragraphs>155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system-ui</vt:lpstr>
      <vt:lpstr>Times New Roman</vt:lpstr>
      <vt:lpstr>Roboto</vt:lpstr>
      <vt:lpstr>Calibri</vt:lpstr>
      <vt:lpstr>Cambria Math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Черный и Желтый Современный Социальные Сети Маркетинг Тенденции Презентация</dc:title>
  <dc:creator>nikita nikitu</dc:creator>
  <cp:lastModifiedBy>nikita nikitu</cp:lastModifiedBy>
  <cp:revision>131</cp:revision>
  <dcterms:created xsi:type="dcterms:W3CDTF">2006-08-16T00:00:00Z</dcterms:created>
  <dcterms:modified xsi:type="dcterms:W3CDTF">2026-05-11T09:14:44Z</dcterms:modified>
  <dc:identifier>DAF9_wDUo-o</dc:identifier>
</cp:coreProperties>
</file>